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4A3B8"/>
                </a:solidFill>
                <a:latin typeface="Consolas"/>
              </a:rPr>
              <a:t>PRESENTATION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29260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600" b="1" i="0">
                <a:solidFill>
                  <a:srgbClr val="FFFFFF"/>
                </a:solidFill>
                <a:latin typeface="Pretendard"/>
              </a:rPr>
              <a:t>HPWD</a:t>
            </a:r>
          </a:p>
          <a:p>
            <a:pPr algn="l">
              <a:lnSpc>
                <a:spcPct val="105000"/>
              </a:lnSpc>
            </a:pPr>
            <a:r>
              <a:rPr sz="9600" b="1" i="0">
                <a:solidFill>
                  <a:srgbClr val="FFFFFF"/>
                </a:solidFill>
                <a:latin typeface="Pretendard"/>
              </a:rPr>
              <a:t>AI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0"/>
            <a:ext cx="10058400" cy="914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0" i="0">
                <a:solidFill>
                  <a:srgbClr val="CBD5E1"/>
                </a:solidFill>
                <a:latin typeface="Pretendard"/>
              </a:rPr>
              <a:t>개발 로드맵 일정 발표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0"/>
            <a:ext cx="10972800" cy="5486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4A3B8"/>
                </a:solidFill>
                <a:latin typeface="Consolas"/>
              </a:rPr>
              <a:t>Phase 1 · 9개월 · Design Guide Agent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4A3B8"/>
                </a:solidFill>
                <a:latin typeface="Consolas"/>
              </a:rPr>
              <a:t>Phase 2 · 12개월 · Full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CBD5E1"/>
                </a:solidFill>
                <a:latin typeface="Consolas"/>
              </a:rPr>
              <a:t>01 / 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411480"/>
            <a:ext cx="100584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563EB"/>
                </a:solidFill>
                <a:latin typeface="Consolas"/>
              </a:rPr>
              <a:t>A. 전체 로드맵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14400"/>
            <a:ext cx="100584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475569"/>
                </a:solidFill>
                <a:latin typeface="Pretendard"/>
              </a:rPr>
              <a:t>21개월 · 10트랙 · 2단계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80160"/>
            <a:ext cx="1005840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4A3B8"/>
                </a:solidFill>
                <a:latin typeface="Pretendard"/>
              </a:rPr>
              <a:t>Phase 1 (9개월) + Phase 2 (12개월)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874520"/>
            <a:ext cx="5570067" cy="4343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874520"/>
            <a:ext cx="45720" cy="4343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993392"/>
            <a:ext cx="524088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563EB"/>
                </a:solidFill>
                <a:latin typeface="Consolas"/>
              </a:rPr>
              <a:t>한 줄 요약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2249424"/>
            <a:ext cx="524088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1A2E"/>
                </a:solidFill>
                <a:latin typeface="Pretendard"/>
              </a:rPr>
              <a:t>설계 도우미 AI · 21개월 · 단계적 구축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843784"/>
            <a:ext cx="5240883" cy="914400"/>
          </a:xfrm>
          <a:prstGeom prst="rect">
            <a:avLst/>
          </a:prstGeom>
          <a:noFill/>
        </p:spPr>
        <p:txBody>
          <a:bodyPr wrap="square" lIns="0" rIns="0" tIns="0" bIns="0" anchor="t">
            <a:normAutofit fontScale="85000"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Phase 1 (9개월) — 외부 API + 1D 물리 모델 기반 빠른 MVP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Phase 2 (12개월) — Phase 1 데이터로 자체 AI(sLLM) + 신제품 자동 설계 확장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0147" y="1874520"/>
            <a:ext cx="5570067" cy="20802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0147" y="1874520"/>
            <a:ext cx="45720" cy="20802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4739" y="1993392"/>
            <a:ext cx="524088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059669"/>
                </a:solidFill>
                <a:latin typeface="Consolas"/>
              </a:rPr>
              <a:t>왜 두 단계로?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4739" y="2249424"/>
            <a:ext cx="5240883" cy="914400"/>
          </a:xfrm>
          <a:prstGeom prst="rect">
            <a:avLst/>
          </a:prstGeom>
          <a:noFill/>
        </p:spPr>
        <p:txBody>
          <a:bodyPr wrap="square" lIns="0" rIns="0" tIns="0" bIns="0" anchor="t">
            <a:normAutofit fontScale="85000"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한 번에 다 만들면 — 장기간 · 학습 데이터 부재 · 고위험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Phase 1 · 빠른 동작 + 데이터 수집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Phase 2 · 자체 AI 학습 + 자립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0147" y="4137660"/>
            <a:ext cx="5570067" cy="20802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0147" y="4137660"/>
            <a:ext cx="45720" cy="20802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4739" y="4256532"/>
            <a:ext cx="524088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D97706"/>
                </a:solidFill>
                <a:latin typeface="Consolas"/>
              </a:rPr>
              <a:t>화면 구성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4739" y="4512564"/>
            <a:ext cx="5240883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• 가로축 — 21개월 (M1~M21)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• 세로축 — 10트랙 (P1: ⓐ~ⓔ, P2: ⓐ~ⓔ)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• 가로 막대 — 트랙별 작업 기간 (색 = 카테고리)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Consolas"/>
              </a:rPr>
              <a:t>02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411480"/>
            <a:ext cx="100584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563EB"/>
                </a:solidFill>
                <a:latin typeface="Consolas"/>
              </a:rPr>
              <a:t>B. Phase 1 — Design Guide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14400"/>
            <a:ext cx="100584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475569"/>
                </a:solidFill>
                <a:latin typeface="Pretendard"/>
              </a:rPr>
              <a:t>Phase 1 · 9개월 · 5트랙 병렬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80160"/>
            <a:ext cx="1005840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4A3B8"/>
                </a:solidFill>
                <a:latin typeface="Pretendard"/>
              </a:rPr>
              <a:t>외부 API + 1D 물리 모델 · 빠른 MVP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874520"/>
            <a:ext cx="5570067" cy="4343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874520"/>
            <a:ext cx="45720" cy="4343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993392"/>
            <a:ext cx="524088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563EB"/>
                </a:solidFill>
                <a:latin typeface="Consolas"/>
              </a:rPr>
              <a:t>Phase 1 목표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2249424"/>
            <a:ext cx="524088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1A2E"/>
                </a:solidFill>
                <a:latin typeface="Pretendard"/>
              </a:rPr>
              <a:t>자연어 질문 → 즉답 도우미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660904"/>
            <a:ext cx="5240883" cy="640080"/>
          </a:xfrm>
          <a:prstGeom prst="rect">
            <a:avLst/>
          </a:prstGeom>
          <a:noFill/>
        </p:spPr>
        <p:txBody>
          <a:bodyPr wrap="square" lIns="0" rIns="0" tIns="0" bIns="0" anchor="t">
            <a:normAutofit fontScale="85000"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대상 — 기존 모델 개선 (Case A)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방식 — 외부 LLM API 활용 · 자체 AI 미개발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기간 — 9개월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0147" y="1874520"/>
            <a:ext cx="5570067" cy="20802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0147" y="1874520"/>
            <a:ext cx="45720" cy="20802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4739" y="1993392"/>
            <a:ext cx="524088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059669"/>
                </a:solidFill>
                <a:latin typeface="Consolas"/>
              </a:rPr>
              <a:t>5트랙 구성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4739" y="2249424"/>
            <a:ext cx="5240883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• ⓐ 외부 LLM API — AI 답변 엔진 (외부 LLM API)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• ⓑ 검증 DB — 사내 데이터 통합 저장소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• ⓒ 1D 물리 모델 — 기존 시뮬레이터 통합·확장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• ⓓ 개별 요소 검증 — 시뮬 ↔ 실험 비교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• ⓔ 최적화 툴 — AI 호출 가능 자동 최적화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0147" y="4137660"/>
            <a:ext cx="5570067" cy="20802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0147" y="4137660"/>
            <a:ext cx="45720" cy="20802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4739" y="4256532"/>
            <a:ext cx="524088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D97706"/>
                </a:solidFill>
                <a:latin typeface="Consolas"/>
              </a:rPr>
              <a:t>5트랙 모두 필요한 이유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4739" y="4512564"/>
            <a:ext cx="5240883" cy="1097280"/>
          </a:xfrm>
          <a:prstGeom prst="rect">
            <a:avLst/>
          </a:prstGeom>
          <a:noFill/>
        </p:spPr>
        <p:txBody>
          <a:bodyPr wrap="square" lIns="0" rIns="0" tIns="0" bIns="0" anchor="t">
            <a:normAutofit fontScale="85000"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ⓐ AI만 — 참조 자료 부재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ⓑ DB만 — 활용 도구 부재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ⓒ 시뮬만 — 사용자 직접 운용 부담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5트랙 = 상호 입력 구조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Consolas"/>
              </a:rPr>
              <a:t>03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411480"/>
            <a:ext cx="100584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563EB"/>
                </a:solidFill>
                <a:latin typeface="Consolas"/>
              </a:rPr>
              <a:t>C. Phase 1 ⓐ 트랙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14400"/>
            <a:ext cx="100584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475569"/>
                </a:solidFill>
                <a:latin typeface="Pretendard"/>
              </a:rPr>
              <a:t>ⓐ 외부 LLM API 구축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80160"/>
            <a:ext cx="1005840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4A3B8"/>
                </a:solidFill>
                <a:latin typeface="Pretendard"/>
              </a:rPr>
              <a:t>9개월 · 4단계 · AI 답변 엔진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874520"/>
            <a:ext cx="5570067" cy="4343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874520"/>
            <a:ext cx="45720" cy="4343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993392"/>
            <a:ext cx="524088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563EB"/>
                </a:solidFill>
                <a:latin typeface="Consolas"/>
              </a:rPr>
              <a:t>왜 가장 먼저인가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2249424"/>
            <a:ext cx="524088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1A2E"/>
                </a:solidFill>
                <a:latin typeface="Pretendard"/>
              </a:rPr>
              <a:t>사용자 직접 접점 컴포넌트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660904"/>
            <a:ext cx="5240883" cy="914400"/>
          </a:xfrm>
          <a:prstGeom prst="rect">
            <a:avLst/>
          </a:prstGeom>
          <a:noFill/>
        </p:spPr>
        <p:txBody>
          <a:bodyPr wrap="square" lIns="0" rIns="0" tIns="0" bIns="0" anchor="t">
            <a:normAutofit fontScale="85000"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ⓐ = 답변 시스템 (사용자 노출)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ⓑⓒⓓⓔ = ⓐ의 재료 공급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ⓐ 부재 시 — 결과 전달 채널 없음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0147" y="1874520"/>
            <a:ext cx="5570067" cy="20802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0147" y="1874520"/>
            <a:ext cx="45720" cy="20802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4739" y="1993392"/>
            <a:ext cx="524088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059669"/>
                </a:solidFill>
                <a:latin typeface="Consolas"/>
              </a:rPr>
              <a:t>9개월 4단계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4739" y="2249424"/>
            <a:ext cx="5240883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• M1~M3 기반 구축 — RAG · API · Interpreter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• M3~M5 에이전트 MVP — Tool-use · Explainer · 첫 데모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• M5~M7 멀티도메인 + 로그 — 5도메인 통합 · 데이터 수집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• M7~M9 통합 완성 — 사용자 시연 · Phase Gate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0147" y="4137660"/>
            <a:ext cx="5570067" cy="20802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0147" y="4137660"/>
            <a:ext cx="45720" cy="20802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4739" y="4256532"/>
            <a:ext cx="524088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7C3AED"/>
                </a:solidFill>
                <a:latin typeface="Consolas"/>
              </a:rPr>
              <a:t>다음 슬라이드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4739" y="4512564"/>
            <a:ext cx="5240883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 fontScale="85000"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트랙 내부 5개 컴포넌트 차례 설명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Consolas"/>
              </a:rPr>
              <a:t>04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411480"/>
            <a:ext cx="100584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563EB"/>
                </a:solidFill>
                <a:latin typeface="Consolas"/>
              </a:rPr>
              <a:t>D. ⓐ 외부 LLM API · 세부 로드맵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14400"/>
            <a:ext cx="100584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475569"/>
                </a:solidFill>
                <a:latin typeface="Pretendard"/>
              </a:rPr>
              <a:t>ⓐ 세부 — 5개 컴포넌트 병렬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80160"/>
            <a:ext cx="1005840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4A3B8"/>
                </a:solidFill>
                <a:latin typeface="Pretendard"/>
              </a:rPr>
              <a:t>4단계 = "메인 컴포넌트 시간 마커"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874520"/>
            <a:ext cx="5570067" cy="4343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874520"/>
            <a:ext cx="45720" cy="4343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993392"/>
            <a:ext cx="524088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563EB"/>
                </a:solidFill>
                <a:latin typeface="Consolas"/>
              </a:rPr>
              <a:t>데이터 흐름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2249424"/>
            <a:ext cx="524088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1A2E"/>
                </a:solidFill>
                <a:latin typeface="Pretendard"/>
              </a:rPr>
              <a:t>4단계 파이프라인 + 보조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660904"/>
            <a:ext cx="5240883" cy="640080"/>
          </a:xfrm>
          <a:prstGeom prst="rect">
            <a:avLst/>
          </a:prstGeom>
          <a:noFill/>
        </p:spPr>
        <p:txBody>
          <a:bodyPr wrap="square" lIns="0" rIns="0" tIns="0" bIns="0" anchor="t">
            <a:normAutofit fontScale="85000"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실행 — 4단계 순차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개발 — 5트랙 동시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로그(⑤) — 전 과정 수집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" y="3374136"/>
            <a:ext cx="1173060" cy="4114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2563EB"/>
                </a:solidFill>
                <a:latin typeface="Consolas"/>
              </a:rPr>
              <a:t>1</a:t>
            </a:r>
          </a:p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A1A2E"/>
                </a:solidFill>
                <a:latin typeface="Pretendard"/>
              </a:rPr>
              <a:t>질문 이해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49132" y="3374136"/>
            <a:ext cx="1828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94A3B8"/>
                </a:solidFill>
                <a:latin typeface="Pretendard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32012" y="3374136"/>
            <a:ext cx="1173060" cy="4114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2563EB"/>
                </a:solidFill>
                <a:latin typeface="Consolas"/>
              </a:rPr>
              <a:t>2</a:t>
            </a:r>
          </a:p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A1A2E"/>
                </a:solidFill>
                <a:latin typeface="Pretendard"/>
              </a:rPr>
              <a:t>자료 검색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5073" y="3374136"/>
            <a:ext cx="1828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94A3B8"/>
                </a:solidFill>
                <a:latin typeface="Pretendard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87953" y="3374136"/>
            <a:ext cx="1173060" cy="4114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2563EB"/>
                </a:solidFill>
                <a:latin typeface="Consolas"/>
              </a:rPr>
              <a:t>3</a:t>
            </a:r>
          </a:p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A1A2E"/>
                </a:solidFill>
                <a:latin typeface="Pretendard"/>
              </a:rPr>
              <a:t>AI 답변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1014" y="3374136"/>
            <a:ext cx="1828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94A3B8"/>
                </a:solidFill>
                <a:latin typeface="Pretendard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43894" y="3374136"/>
            <a:ext cx="1173060" cy="4114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2563EB"/>
                </a:solidFill>
                <a:latin typeface="Consolas"/>
              </a:rPr>
              <a:t>4</a:t>
            </a:r>
          </a:p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A1A2E"/>
                </a:solidFill>
                <a:latin typeface="Pretendard"/>
              </a:rPr>
              <a:t>답변 표시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0147" y="1874520"/>
            <a:ext cx="5570067" cy="20802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0147" y="1874520"/>
            <a:ext cx="45720" cy="20802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4739" y="1993392"/>
            <a:ext cx="524088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0D9488"/>
                </a:solidFill>
                <a:latin typeface="Consolas"/>
              </a:rPr>
              <a:t>병렬 진행 가능 이유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4739" y="2249424"/>
            <a:ext cx="5240883" cy="640080"/>
          </a:xfrm>
          <a:prstGeom prst="rect">
            <a:avLst/>
          </a:prstGeom>
          <a:noFill/>
        </p:spPr>
        <p:txBody>
          <a:bodyPr wrap="square" lIns="0" rIns="0" tIns="0" bIns="0" anchor="t">
            <a:normAutofit fontScale="85000"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컴포넌트별 독립 개발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인터페이스(데이터 형식)만 사전 합의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→ 9개월 5트랙 동시 완성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0147" y="4137660"/>
            <a:ext cx="5570067" cy="20802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0147" y="4137660"/>
            <a:ext cx="45720" cy="20802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4739" y="4256532"/>
            <a:ext cx="524088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D97706"/>
                </a:solidFill>
                <a:latin typeface="Consolas"/>
              </a:rPr>
              <a:t>화면 구성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4739" y="4512564"/>
            <a:ext cx="5240883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• 왼쪽 라벨 — 5개 서브트랙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• 가로 막대 — 세부 작업 (5~7개)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• 색상 — 카테고리 (파랑=AI · 빨강=UI · 노랑=DB)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Consolas"/>
              </a:rPr>
              <a:t>05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411480"/>
            <a:ext cx="100584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563EB"/>
                </a:solidFill>
                <a:latin typeface="Consolas"/>
              </a:rPr>
              <a:t>D-1. 서브트랙 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14400"/>
            <a:ext cx="100584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475569"/>
                </a:solidFill>
                <a:latin typeface="Pretendard"/>
              </a:rPr>
              <a:t>① Interpreter · 질문 이해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80160"/>
            <a:ext cx="1005840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4A3B8"/>
                </a:solidFill>
                <a:latin typeface="Pretendard"/>
              </a:rPr>
              <a:t>모호한 질문 → 정형 쿼리 변환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874520"/>
            <a:ext cx="5570067" cy="4343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874520"/>
            <a:ext cx="45720" cy="4343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993392"/>
            <a:ext cx="524088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563EB"/>
                </a:solidFill>
                <a:latin typeface="Consolas"/>
              </a:rPr>
              <a:t>한 줄 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2249424"/>
            <a:ext cx="524088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1A2E"/>
                </a:solidFill>
                <a:latin typeface="Pretendard"/>
              </a:rPr>
              <a:t>모호한 질문의 정형화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660904"/>
            <a:ext cx="5240883" cy="914400"/>
          </a:xfrm>
          <a:prstGeom prst="rect">
            <a:avLst/>
          </a:prstGeom>
          <a:noFill/>
        </p:spPr>
        <p:txBody>
          <a:bodyPr wrap="square" lIns="0" rIns="0" tIns="0" bIns="0" anchor="t">
            <a:normAutofit fontScale="85000"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입력 — "빨래가 안말라"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출력 — "VX 모델 · FMC 저하 진단 요청"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AI가 받기 전 정형화 단계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0147" y="1874520"/>
            <a:ext cx="5570067" cy="20802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0147" y="1874520"/>
            <a:ext cx="45720" cy="20802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4739" y="1993392"/>
            <a:ext cx="524088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059669"/>
                </a:solidFill>
                <a:latin typeface="Consolas"/>
              </a:rPr>
              <a:t>구성 요소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4739" y="2249424"/>
            <a:ext cx="5240883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• 의도 분류 — 진단 · 조회 · 시뮬 · 최적화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• 역질문 로직 — 모델명 · 시험 조건 누락 시 자동 되묻기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• 도메인 용어 사전 — "안말라" → "FMC 저하"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• 정형 JSON 쿼리 — 표준 포맷 생성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0147" y="4137660"/>
            <a:ext cx="5570067" cy="20802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0147" y="4137660"/>
            <a:ext cx="45720" cy="20802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4739" y="4256532"/>
            <a:ext cx="524088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D97706"/>
                </a:solidFill>
                <a:latin typeface="Consolas"/>
              </a:rPr>
              <a:t>필요성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4739" y="4512564"/>
            <a:ext cx="5240883" cy="914400"/>
          </a:xfrm>
          <a:prstGeom prst="rect">
            <a:avLst/>
          </a:prstGeom>
          <a:noFill/>
        </p:spPr>
        <p:txBody>
          <a:bodyPr wrap="square" lIns="0" rIns="0" tIns="0" bIns="0" anchor="t">
            <a:normAutofit fontScale="85000"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미적용 시 — 해석 일관성 부재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"안말라" → SMER · 건조시간 등 매번 다른 해석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Interpreter = 입구 정형화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74739" y="5500116"/>
            <a:ext cx="5240883" cy="5029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tIns="73152" bIns="73152" wrap="square"/>
          <a:lstStyle/>
          <a:p>
            <a:pPr algn="l">
              <a:lnSpc>
                <a:spcPct val="120000"/>
              </a:lnSpc>
            </a:pPr>
            <a:r>
              <a:rPr sz="850" b="1">
                <a:solidFill>
                  <a:srgbClr val="D97706"/>
                </a:solidFill>
                <a:latin typeface="Consolas"/>
              </a:rPr>
              <a:t>FMC</a:t>
            </a:r>
          </a:p>
          <a:p>
            <a:pPr algn="l">
              <a:lnSpc>
                <a:spcPct val="130000"/>
              </a:lnSpc>
            </a:pPr>
            <a:r>
              <a:rPr sz="900">
                <a:solidFill>
                  <a:srgbClr val="475569"/>
                </a:solidFill>
                <a:latin typeface="Pretendard"/>
              </a:rPr>
              <a:t>의류 함습률 또는 건조 효율 지표. 단위 전력당 제거 수분량(kg/kWh) 기준.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Consolas"/>
              </a:rPr>
              <a:t>06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411480"/>
            <a:ext cx="100584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563EB"/>
                </a:solidFill>
                <a:latin typeface="Consolas"/>
              </a:rPr>
              <a:t>D-2. 서브트랙 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14400"/>
            <a:ext cx="100584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475569"/>
                </a:solidFill>
                <a:latin typeface="Pretendard"/>
              </a:rPr>
              <a:t>② RAG · 자료 검색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80160"/>
            <a:ext cx="1005840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4A3B8"/>
                </a:solidFill>
                <a:latin typeface="Pretendard"/>
              </a:rPr>
              <a:t>키워드 아닌 '의미' 기반 사내 검색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874520"/>
            <a:ext cx="5570067" cy="4343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874520"/>
            <a:ext cx="45720" cy="4343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993392"/>
            <a:ext cx="524088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563EB"/>
                </a:solidFill>
                <a:latin typeface="Consolas"/>
              </a:rPr>
              <a:t>한 줄 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2249424"/>
            <a:ext cx="524088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1A2E"/>
                </a:solidFill>
                <a:latin typeface="Pretendard"/>
              </a:rPr>
              <a:t>의미 기반 사내 자료 검색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660904"/>
            <a:ext cx="5240883" cy="914400"/>
          </a:xfrm>
          <a:prstGeom prst="rect">
            <a:avLst/>
          </a:prstGeom>
          <a:noFill/>
        </p:spPr>
        <p:txBody>
          <a:bodyPr wrap="square" lIns="0" rIns="0" tIns="0" bIns="0" anchor="t">
            <a:normAutofit fontScale="85000"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"빨래가 안말라" → "건조 효율 저하" · "FMC 부족" · "응축기 성능" 자료 동시 검색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키워드 검색 — 실패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RAG — 의미 기반 검색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" y="3648456"/>
            <a:ext cx="5240883" cy="694944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tIns="73152" bIns="73152" wrap="square"/>
          <a:lstStyle/>
          <a:p>
            <a:pPr algn="l">
              <a:lnSpc>
                <a:spcPct val="120000"/>
              </a:lnSpc>
            </a:pPr>
            <a:r>
              <a:rPr sz="850" b="1">
                <a:solidFill>
                  <a:srgbClr val="2563EB"/>
                </a:solidFill>
                <a:latin typeface="Consolas"/>
              </a:rPr>
              <a:t>RAG</a:t>
            </a:r>
          </a:p>
          <a:p>
            <a:pPr algn="l">
              <a:lnSpc>
                <a:spcPct val="130000"/>
              </a:lnSpc>
            </a:pPr>
            <a:r>
              <a:rPr sz="900">
                <a:solidFill>
                  <a:srgbClr val="475569"/>
                </a:solidFill>
                <a:latin typeface="Pretendard"/>
              </a:rPr>
              <a:t>Retrieval-Augmented Generation. "검색 + AI 답변" 조합 파이프라인. 단일 AI 아닌 검색·답변 협력 구조. 사내 자료를 답변 근거로 활용.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0147" y="1874520"/>
            <a:ext cx="5570067" cy="20802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0147" y="1874520"/>
            <a:ext cx="45720" cy="20802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4739" y="1993392"/>
            <a:ext cx="524088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059669"/>
                </a:solidFill>
                <a:latin typeface="Consolas"/>
              </a:rPr>
              <a:t>구성 요소 (M1~M7.5)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4739" y="2249424"/>
            <a:ext cx="5240883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• 문서 수집·디지털화 — IEC · EN · 사내 가이드 · 실험 데이터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• 임베딩 · 벡터 DB — 의미 좌표 변환 · 저장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• 의미 검색 (Top-K) — 근접 5개 추출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• 멀티도메인 통합 — 5도메인 일괄 검색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• 하이브리드 + 재랭킹 — 의미 + 키워드 결합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0147" y="4137660"/>
            <a:ext cx="5570067" cy="20802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0147" y="4137660"/>
            <a:ext cx="45720" cy="20802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4739" y="4256532"/>
            <a:ext cx="524088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D97706"/>
                </a:solidFill>
                <a:latin typeface="Consolas"/>
              </a:rPr>
              <a:t>필요성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4739" y="4512564"/>
            <a:ext cx="5240883" cy="1371600"/>
          </a:xfrm>
          <a:prstGeom prst="rect">
            <a:avLst/>
          </a:prstGeom>
          <a:noFill/>
        </p:spPr>
        <p:txBody>
          <a:bodyPr wrap="square" lIns="0" rIns="0" tIns="0" bIns="0" anchor="t">
            <a:normAutofit fontScale="85000"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RAG 미적용 — AI 환각 (학습 데이터 기반 추측)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RAG 적용 — 사내 자료 근거 답변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사내 지식 주입 최단 경로 (Phase 2 자체 학습 전)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→ RAG 내부 AI 종류는 다음 슬라이드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Consolas"/>
              </a:rPr>
              <a:t>07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411480"/>
            <a:ext cx="100584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563EB"/>
                </a:solidFill>
                <a:latin typeface="Consolas"/>
              </a:rPr>
              <a:t>D-3. 서브트랙 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14400"/>
            <a:ext cx="100584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475569"/>
                </a:solidFill>
                <a:latin typeface="Pretendard"/>
              </a:rPr>
              <a:t>③ 외부 LLM API + Tool-use · AI 답변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80160"/>
            <a:ext cx="1005840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4A3B8"/>
                </a:solidFill>
                <a:latin typeface="Pretendard"/>
              </a:rPr>
              <a:t>외부 도구 호출형 AI 모델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874520"/>
            <a:ext cx="5570067" cy="4343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874520"/>
            <a:ext cx="45720" cy="4343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993392"/>
            <a:ext cx="524088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563EB"/>
                </a:solidFill>
                <a:latin typeface="Consolas"/>
              </a:rPr>
              <a:t>한 줄 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2249424"/>
            <a:ext cx="524088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1A2E"/>
                </a:solidFill>
                <a:latin typeface="Pretendard"/>
              </a:rPr>
              <a:t>외부 도구 호출형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660904"/>
            <a:ext cx="5240883" cy="914400"/>
          </a:xfrm>
          <a:prstGeom prst="rect">
            <a:avLst/>
          </a:prstGeom>
          <a:noFill/>
        </p:spPr>
        <p:txBody>
          <a:bodyPr wrap="square" lIns="0" rIns="0" tIns="0" bIns="0" anchor="t">
            <a:normAutofit fontScale="85000"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단순 텍스트 생성 ≠ 외부 LLM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호출 가능 — 시뮬레이터 · DB · 최적화 도구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예 — "응축기 UA 14% 증가 시?" → 1D 시뮬 호출 → 결과 → 답변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" y="3648456"/>
            <a:ext cx="5240883" cy="5029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tIns="73152" bIns="73152" wrap="square"/>
          <a:lstStyle/>
          <a:p>
            <a:pPr algn="l">
              <a:lnSpc>
                <a:spcPct val="120000"/>
              </a:lnSpc>
            </a:pPr>
            <a:r>
              <a:rPr sz="850" b="1">
                <a:solidFill>
                  <a:srgbClr val="2563EB"/>
                </a:solidFill>
                <a:latin typeface="Consolas"/>
              </a:rPr>
              <a:t>Tool-use</a:t>
            </a:r>
          </a:p>
          <a:p>
            <a:pPr algn="l">
              <a:lnSpc>
                <a:spcPct val="130000"/>
              </a:lnSpc>
            </a:pPr>
            <a:r>
              <a:rPr sz="900">
                <a:solidFill>
                  <a:srgbClr val="475569"/>
                </a:solidFill>
                <a:latin typeface="Pretendard"/>
              </a:rPr>
              <a:t>AI 외부 함수 호출 능력. LLM 판단 → 도구 호출 → 결과 수신 → 답변 반영.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0147" y="1874520"/>
            <a:ext cx="5570067" cy="20802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0147" y="1874520"/>
            <a:ext cx="45720" cy="20802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4739" y="1993392"/>
            <a:ext cx="524088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059669"/>
                </a:solidFill>
                <a:latin typeface="Consolas"/>
              </a:rPr>
              <a:t>구성 요소 (M1~M7)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4739" y="2249424"/>
            <a:ext cx="5240883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• API 보안 + 마스킹 — 단가 · 도면 외부 차단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• System Prompt 설계 — 페르소나 · 답변 형식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• Tool 등록 (4종) — DB · 1D 시뮬 · 최적화 · 시각화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• JSON Schema — 정형 포맷 강제 (환각 방지)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• Orchestrator (LangGraph) — 호출 순서 · 반복 · 복구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0147" y="4137660"/>
            <a:ext cx="5570067" cy="20802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0147" y="4137660"/>
            <a:ext cx="45720" cy="20802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4739" y="4256532"/>
            <a:ext cx="524088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D97706"/>
                </a:solidFill>
                <a:latin typeface="Consolas"/>
              </a:rPr>
              <a:t>필요성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4739" y="4512564"/>
            <a:ext cx="5240883" cy="914400"/>
          </a:xfrm>
          <a:prstGeom prst="rect">
            <a:avLst/>
          </a:prstGeom>
          <a:noFill/>
        </p:spPr>
        <p:txBody>
          <a:bodyPr wrap="square" lIns="0" rIns="0" tIns="0" bIns="0" anchor="t">
            <a:normAutofit fontScale="85000"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설계자 질의 — "변경 적용 시 결과?"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→ 실시간 시뮬 실행 필수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Tool-use = 텍스트 생성 + 외부 도구 직접 실행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74739" y="5500116"/>
            <a:ext cx="5240883" cy="580643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tIns="73152" bIns="73152" wrap="square"/>
          <a:lstStyle/>
          <a:p>
            <a:pPr algn="l">
              <a:lnSpc>
                <a:spcPct val="120000"/>
              </a:lnSpc>
            </a:pPr>
            <a:r>
              <a:rPr sz="850" b="1">
                <a:solidFill>
                  <a:srgbClr val="D97706"/>
                </a:solidFill>
                <a:latin typeface="Consolas"/>
              </a:rPr>
              <a:t>Structured Output</a:t>
            </a:r>
          </a:p>
          <a:p>
            <a:pPr algn="l">
              <a:lnSpc>
                <a:spcPct val="130000"/>
              </a:lnSpc>
            </a:pPr>
            <a:r>
              <a:rPr sz="900">
                <a:solidFill>
                  <a:srgbClr val="475569"/>
                </a:solidFill>
                <a:latin typeface="Pretendard"/>
              </a:rPr>
              <a:t>자유 텍스트 → 고정 JSON. 누락 · 환각 방지. 예 — {conclusion, evidence, confidence}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Consolas"/>
              </a:rPr>
              <a:t>08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411480"/>
            <a:ext cx="100584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563EB"/>
                </a:solidFill>
                <a:latin typeface="Consolas"/>
              </a:rPr>
              <a:t>D-4. 서브트랙 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14400"/>
            <a:ext cx="100584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475569"/>
                </a:solidFill>
                <a:latin typeface="Pretendard"/>
              </a:rPr>
              <a:t>④ Explainer · 답변 표시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80160"/>
            <a:ext cx="1005840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4A3B8"/>
                </a:solidFill>
                <a:latin typeface="Pretendard"/>
              </a:rPr>
              <a:t>JSON → 카드 · 그래프 · 다이어그램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874520"/>
            <a:ext cx="5570067" cy="4343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874520"/>
            <a:ext cx="45720" cy="4343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993392"/>
            <a:ext cx="524088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563EB"/>
                </a:solidFill>
                <a:latin typeface="Consolas"/>
              </a:rPr>
              <a:t>한 줄 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2249424"/>
            <a:ext cx="524088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1A2E"/>
                </a:solidFill>
                <a:latin typeface="Pretendard"/>
              </a:rPr>
              <a:t>사용자별 맞춤 답변 표시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660904"/>
            <a:ext cx="5240883" cy="914400"/>
          </a:xfrm>
          <a:prstGeom prst="rect">
            <a:avLst/>
          </a:prstGeom>
          <a:noFill/>
        </p:spPr>
        <p:txBody>
          <a:bodyPr wrap="square" lIns="0" rIns="0" tIns="0" bIns="0" anchor="t">
            <a:normAutofit fontScale="85000"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동일 데이터 · 다른 표현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전문가 — "FMC 0.62 kg/kWh · UAcond 145 W/K"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비전문가 — "건조 효율 12%↓ · 라디에이터 부족"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0147" y="1874520"/>
            <a:ext cx="5570067" cy="20802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0147" y="1874520"/>
            <a:ext cx="45720" cy="20802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4739" y="1993392"/>
            <a:ext cx="524088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059669"/>
                </a:solidFill>
                <a:latin typeface="Consolas"/>
              </a:rPr>
              <a:t>구성 요소 (M3~M8.5)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4739" y="2249424"/>
            <a:ext cx="5240883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• JSON → UI 매핑 — 카테고리별 카드 컴포넌트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• 전문가 / 비전문가 모드 — 답변 톤 분기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• 근거 인용 — 클릭 → 원문 스크롤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• 1D 시각화 — 시뮬 결과 그래프 · 차트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• 음성 · 그래프 · PDF — 출력 다양화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0147" y="4137660"/>
            <a:ext cx="5570067" cy="20802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0147" y="4137660"/>
            <a:ext cx="45720" cy="20802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4739" y="4256532"/>
            <a:ext cx="524088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DC2626"/>
                </a:solidFill>
                <a:latin typeface="Consolas"/>
              </a:rPr>
              <a:t>필요성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4739" y="4512564"/>
            <a:ext cx="5240883" cy="914400"/>
          </a:xfrm>
          <a:prstGeom prst="rect">
            <a:avLst/>
          </a:prstGeom>
          <a:noFill/>
        </p:spPr>
        <p:txBody>
          <a:bodyPr wrap="square" lIns="0" rIns="0" tIns="0" bIns="0" anchor="t">
            <a:normAutofit fontScale="85000"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정확 답변 ≠ 유용한 답변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비전문가 사용 가능성 = HPWD AI Agent 차별점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근거 인용 = 신뢰성 핵심 ("왜 이렇게 답했나" 추적)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Consolas"/>
              </a:rPr>
              <a:t>09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411480"/>
            <a:ext cx="100584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563EB"/>
                </a:solidFill>
                <a:latin typeface="Consolas"/>
              </a:rPr>
              <a:t>D-5. 서브트랙 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14400"/>
            <a:ext cx="100584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475569"/>
                </a:solidFill>
                <a:latin typeface="Pretendard"/>
              </a:rPr>
              <a:t>⑤ 로그 수집 + 데이터 라벨링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80160"/>
            <a:ext cx="1005840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4A3B8"/>
                </a:solidFill>
                <a:latin typeface="Pretendard"/>
              </a:rPr>
              <a:t>Phase 2 학습 데이터 수확기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874520"/>
            <a:ext cx="5570067" cy="4343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874520"/>
            <a:ext cx="45720" cy="4343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993392"/>
            <a:ext cx="524088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563EB"/>
                </a:solidFill>
                <a:latin typeface="Consolas"/>
              </a:rPr>
              <a:t>한 줄 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2249424"/>
            <a:ext cx="524088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1A2E"/>
                </a:solidFill>
                <a:latin typeface="Pretendard"/>
              </a:rPr>
              <a:t>자체 sLLM 학습 데이터 축적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660904"/>
            <a:ext cx="5240883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 fontScale="85000"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9개월 동안 — 대화 · 검색 · 답변 · 피드백 전수 저장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→ Phase 2 자체 sLLM 학습 데이터셋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" y="3191256"/>
            <a:ext cx="5240883" cy="694944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tIns="73152" bIns="73152" wrap="square"/>
          <a:lstStyle/>
          <a:p>
            <a:pPr algn="l">
              <a:lnSpc>
                <a:spcPct val="120000"/>
              </a:lnSpc>
            </a:pPr>
            <a:r>
              <a:rPr sz="850" b="1">
                <a:solidFill>
                  <a:srgbClr val="2563EB"/>
                </a:solidFill>
                <a:latin typeface="Consolas"/>
              </a:rPr>
              <a:t>데이터 라벨링</a:t>
            </a:r>
          </a:p>
          <a:p>
            <a:pPr algn="l">
              <a:lnSpc>
                <a:spcPct val="130000"/>
              </a:lnSpc>
            </a:pPr>
            <a:r>
              <a:rPr sz="900">
                <a:solidFill>
                  <a:srgbClr val="475569"/>
                </a:solidFill>
                <a:latin typeface="Pretendard"/>
              </a:rPr>
              <a:t>전문가 검토 후 "정답" 라벨 부착 데이터. AI 학습 핵심 재료. 양보다 품질 우선 → 전문가 리뷰 필수.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0147" y="1874520"/>
            <a:ext cx="5570067" cy="20802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0147" y="1874520"/>
            <a:ext cx="45720" cy="20802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4739" y="1993392"/>
            <a:ext cx="524088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059669"/>
                </a:solidFill>
                <a:latin typeface="Consolas"/>
              </a:rPr>
              <a:t>구성 요소 (M3~M9)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4739" y="2249424"/>
            <a:ext cx="5240883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• 구조화 로그 파이프 — JSON 형식 대화 저장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• 피드백 UI — 👍/👎 + 자유 코멘트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• 품질 필터 · 익명화 — 노이즈 제거 · 민감정보 마스킹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• 전문가 리뷰 · 라벨링 — 정답 라벨 부착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• Synthetic 증강 — 외부 LLM으로 보충 데이터 생성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0147" y="4137660"/>
            <a:ext cx="5570067" cy="20802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0147" y="4137660"/>
            <a:ext cx="45720" cy="20802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4739" y="4256532"/>
            <a:ext cx="524088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D97706"/>
                </a:solidFill>
                <a:latin typeface="Consolas"/>
              </a:rPr>
              <a:t>필요성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4739" y="4512564"/>
            <a:ext cx="5240883" cy="1097280"/>
          </a:xfrm>
          <a:prstGeom prst="rect">
            <a:avLst/>
          </a:prstGeom>
          <a:noFill/>
        </p:spPr>
        <p:txBody>
          <a:bodyPr wrap="square" lIns="0" rIns="0" tIns="0" bIns="0" anchor="t">
            <a:normAutofit fontScale="85000"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Phase 2 자체 AI = 도메인 특화 데이터 필수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일반 LLM — 본 도메인 미숙지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데이터 부재 시 — 자체 sLLM 개발 최소 6개월 지연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⑤ 트랙 = 시간 매입 트랙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Consolas"/>
              </a:rP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411480"/>
            <a:ext cx="100584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563EB"/>
                </a:solidFill>
                <a:latin typeface="Consolas"/>
              </a:rPr>
              <a:t>E. Phase 1 ⓑ 트랙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14400"/>
            <a:ext cx="100584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475569"/>
                </a:solidFill>
                <a:latin typeface="Pretendard"/>
              </a:rPr>
              <a:t>ⓑ 검증 DB 구축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80160"/>
            <a:ext cx="1005840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4A3B8"/>
                </a:solidFill>
                <a:latin typeface="Pretendard"/>
              </a:rPr>
              <a:t>AI · 시뮬 공용 사내 데이터 통합 저장소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874520"/>
            <a:ext cx="5570067" cy="4343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874520"/>
            <a:ext cx="45720" cy="4343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993392"/>
            <a:ext cx="524088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D97706"/>
                </a:solidFill>
                <a:latin typeface="Consolas"/>
              </a:rPr>
              <a:t>트랙 정체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2249424"/>
            <a:ext cx="524088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1A2E"/>
                </a:solidFill>
                <a:latin typeface="Pretendard"/>
              </a:rPr>
              <a:t>독립 DB 트랙이 필요한 이유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660904"/>
            <a:ext cx="5240883" cy="914400"/>
          </a:xfrm>
          <a:prstGeom prst="rect">
            <a:avLst/>
          </a:prstGeom>
          <a:noFill/>
        </p:spPr>
        <p:txBody>
          <a:bodyPr wrap="square" lIns="0" rIns="0" tIns="0" bIns="0" anchor="t">
            <a:normAutofit fontScale="85000"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"AI 품질의 70% = 데이터"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ⓐ 답변 엔진 — 양질의 데이터 필수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ⓑ 트랙 — 수집 · 정제 · 검증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0147" y="1874520"/>
            <a:ext cx="5570067" cy="20802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0147" y="1874520"/>
            <a:ext cx="45720" cy="20802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4739" y="1993392"/>
            <a:ext cx="524088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563EB"/>
                </a:solidFill>
                <a:latin typeface="Consolas"/>
              </a:rPr>
              <a:t>9개월 4단계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4739" y="2249424"/>
            <a:ext cx="5240883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• M1~M3 소스·스키마 — 데이터 정의 · 저장 방식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• M2~M5 수집 — 실험 데이터 · 컴포넌트 카탈로그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• M4~M8 룰 + API — 규격 추출 · 검색 인터페이스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• M6~M9 검증·품질 — 100+ 시나리오 · 회귀 테스트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0147" y="4137660"/>
            <a:ext cx="5570067" cy="20802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0147" y="4137660"/>
            <a:ext cx="45720" cy="20802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4739" y="4256532"/>
            <a:ext cx="524088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059669"/>
                </a:solidFill>
                <a:latin typeface="Consolas"/>
              </a:rPr>
              <a:t>ⓐ와의 관계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4739" y="4512564"/>
            <a:ext cx="5240883" cy="914400"/>
          </a:xfrm>
          <a:prstGeom prst="rect">
            <a:avLst/>
          </a:prstGeom>
          <a:noFill/>
        </p:spPr>
        <p:txBody>
          <a:bodyPr wrap="square" lIns="0" rIns="0" tIns="0" bIns="0" anchor="t">
            <a:normAutofit fontScale="85000"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ⓐ ② RAG 자료 출처 = ⓑ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ⓐ ③ Tool-use DB API 제공처 = ⓑ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ⓐ ↔ ⓑ 상호 의존 — 한 쪽 부재 시 시스템 정지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Consolas"/>
              </a:rP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411480"/>
            <a:ext cx="100584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563EB"/>
                </a:solidFill>
                <a:latin typeface="Consolas"/>
              </a:rPr>
              <a:t>E. ⓑ ① DB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14400"/>
            <a:ext cx="100584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475569"/>
                </a:solidFill>
                <a:latin typeface="Pretendard"/>
              </a:rPr>
              <a:t>5요소 · 3개월 · M1~M3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80160"/>
            <a:ext cx="1005840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4A3B8"/>
                </a:solidFill>
                <a:latin typeface="Pretendard"/>
              </a:rPr>
              <a:t>데이터 저장 구조 사전 설계 — 청사진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874520"/>
            <a:ext cx="5570067" cy="20802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874520"/>
            <a:ext cx="45720" cy="20802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993392"/>
            <a:ext cx="524088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563EB"/>
                </a:solidFill>
                <a:latin typeface="Consolas"/>
              </a:rPr>
              <a:t>한 줄 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2249424"/>
            <a:ext cx="524088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1A2E"/>
                </a:solidFill>
                <a:latin typeface="Pretendard"/>
              </a:rPr>
              <a:t>데이터 수집 전 사전 설계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660904"/>
            <a:ext cx="5240883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 fontScale="85000"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데이터 수집 전 — "무엇을 · 어디에" 결정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오류 시 — 전면 재구축 필요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0147" y="1874520"/>
            <a:ext cx="5570067" cy="20802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0147" y="1874520"/>
            <a:ext cx="45720" cy="20802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4739" y="1993392"/>
            <a:ext cx="524088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059669"/>
                </a:solidFill>
                <a:latin typeface="Consolas"/>
              </a:rPr>
              <a:t>5개 요소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4739" y="2249424"/>
            <a:ext cx="5240883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• ① 소스 인벤토리 — 데이터 위치 · 관리자 조사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• ② ERD 모델링 — 엔티티 · 관계 정의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• ③ 스키마 + 인덱스 — 테이블 · 검색 최적화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• ④ 품질 기준 — 좋은 데이터 명시화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• ⑤ 마이그레이션 — 변경 대응 체계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4137660"/>
            <a:ext cx="5570067" cy="20802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4137660"/>
            <a:ext cx="45720" cy="20802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" y="4256532"/>
            <a:ext cx="524088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D97706"/>
                </a:solidFill>
                <a:latin typeface="Consolas"/>
              </a:rPr>
              <a:t>중요 — 사람의 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" y="4512564"/>
            <a:ext cx="5240883" cy="914400"/>
          </a:xfrm>
          <a:prstGeom prst="rect">
            <a:avLst/>
          </a:prstGeom>
          <a:noFill/>
        </p:spPr>
        <p:txBody>
          <a:bodyPr wrap="square" lIns="0" rIns="0" tIns="0" bIns="0" anchor="t">
            <a:normAutofit fontScale="85000"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5요소 모두 AI가 아닌 사람·부서 협업 작업.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· 사내 정책 · 조직 컨텍스트 · 부서 협상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→ AI 학습 데이터 부재 · 자동화 불가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0147" y="4137660"/>
            <a:ext cx="5570067" cy="20802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0147" y="4137660"/>
            <a:ext cx="45720" cy="20802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4739" y="4256532"/>
            <a:ext cx="524088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0D9488"/>
                </a:solidFill>
                <a:latin typeface="Consolas"/>
              </a:rPr>
              <a:t>V1 → 점진 진화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4739" y="4512564"/>
            <a:ext cx="5240883" cy="640080"/>
          </a:xfrm>
          <a:prstGeom prst="rect">
            <a:avLst/>
          </a:prstGeom>
          <a:noFill/>
        </p:spPr>
        <p:txBody>
          <a:bodyPr wrap="square" lIns="0" rIns="0" tIns="0" bIns="0" anchor="t">
            <a:normAutofit fontScale="85000"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3개월 = "완벽 설계" 아님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M1~M3 — 핵심 엔티티만 V1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M4~M9 — ⑤ 마이그레이션으로 점진 추가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Consolas"/>
              </a:rP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411480"/>
            <a:ext cx="100584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563EB"/>
                </a:solidFill>
                <a:latin typeface="Consolas"/>
              </a:rPr>
              <a:t>E-1-1. ⓑ ① DB 설계 · 요소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14400"/>
            <a:ext cx="100584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475569"/>
                </a:solidFill>
                <a:latin typeface="Pretendard"/>
              </a:rPr>
              <a:t>데이터 소스 인벤토리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80160"/>
            <a:ext cx="1005840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4A3B8"/>
                </a:solidFill>
                <a:latin typeface="Pretendard"/>
              </a:rPr>
              <a:t>사내 데이터 위치 · 관리자 조사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874520"/>
            <a:ext cx="5570067" cy="20802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874520"/>
            <a:ext cx="45720" cy="20802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993392"/>
            <a:ext cx="524088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563EB"/>
                </a:solidFill>
                <a:latin typeface="Consolas"/>
              </a:rPr>
              <a:t>한 줄 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2249424"/>
            <a:ext cx="524088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1A2E"/>
                </a:solidFill>
                <a:latin typeface="Pretendard"/>
              </a:rPr>
              <a:t>"어디에 · 무엇이 · 누가 관리"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660904"/>
            <a:ext cx="5240883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 fontScale="85000"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사내 분산 데이터 → 전수 조사 · 목록화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10+ 데이터 소스 · 부서별 책임자 식별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0147" y="1874520"/>
            <a:ext cx="5570067" cy="20802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0147" y="1874520"/>
            <a:ext cx="45720" cy="20802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4739" y="1993392"/>
            <a:ext cx="524088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059669"/>
                </a:solidFill>
                <a:latin typeface="Consolas"/>
              </a:rPr>
              <a:t>예시 인벤토리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4739" y="2249424"/>
            <a:ext cx="5240883" cy="15224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• 사내 모델 카탈로그 — 양산·개발 중 모델 리스트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• 부품 사양시트 — 압축기·HX·팬·EEV 성능 곡선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• 시험 보고서 — 과거 모델 시험 결과 (SMER·소음·전력)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• 시험 규격 — IEC · EN · ISO 인증 요건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• 사내 설계 가이드 — 표준 · 체크리스트 · 노하우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• 타겟 시장 지표 — 지역 · 인증별 목표 (효율 · 소음)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4137660"/>
            <a:ext cx="5570067" cy="20802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4137660"/>
            <a:ext cx="45720" cy="20802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" y="4256532"/>
            <a:ext cx="524088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D97706"/>
                </a:solidFill>
                <a:latin typeface="Consolas"/>
              </a:rPr>
              <a:t>필요성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" y="4512564"/>
            <a:ext cx="5240883" cy="914400"/>
          </a:xfrm>
          <a:prstGeom prst="rect">
            <a:avLst/>
          </a:prstGeom>
          <a:noFill/>
        </p:spPr>
        <p:txBody>
          <a:bodyPr wrap="square" lIns="0" rIns="0" tIns="0" bIns="0" anchor="t">
            <a:normAutofit fontScale="85000"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미실시 — 6개월 후 누락 데이터 발견 → 스키마 재설계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실시 — 사전 식별 · 부서 승인 절차 미리 시작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민감도 분류 시작점 — 단가 · 도면 등 사전 표시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0147" y="4137660"/>
            <a:ext cx="5570067" cy="20802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0147" y="4137660"/>
            <a:ext cx="45720" cy="20802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4739" y="4256532"/>
            <a:ext cx="524088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0D9488"/>
                </a:solidFill>
                <a:latin typeface="Consolas"/>
              </a:rPr>
              <a:t>산출물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4739" y="4512564"/>
            <a:ext cx="5240883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• 데이터 소스 카탈로그 (스프레드시트)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• 부서별 책임자 연락 목록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• 접근 권한 요청 우선순위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Consolas"/>
              </a:rP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411480"/>
            <a:ext cx="100584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563EB"/>
                </a:solidFill>
                <a:latin typeface="Consolas"/>
              </a:rPr>
              <a:t>E-1-2. ⓑ ① DB 설계 · 요소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14400"/>
            <a:ext cx="100584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475569"/>
                </a:solidFill>
                <a:latin typeface="Pretendard"/>
              </a:rPr>
              <a:t>ERD 모델링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80160"/>
            <a:ext cx="1005840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4A3B8"/>
                </a:solidFill>
                <a:latin typeface="Pretendard"/>
              </a:rPr>
              <a:t>엔티티 · 관계도 정의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874520"/>
            <a:ext cx="5570067" cy="20802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874520"/>
            <a:ext cx="45720" cy="20802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993392"/>
            <a:ext cx="524088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563EB"/>
                </a:solidFill>
                <a:latin typeface="Consolas"/>
              </a:rPr>
              <a:t>한 줄 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2249424"/>
            <a:ext cx="524088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1A2E"/>
                </a:solidFill>
                <a:latin typeface="Pretendard"/>
              </a:rPr>
              <a:t>데이터 단위와 연결 구조 청사진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660904"/>
            <a:ext cx="5240883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 fontScale="85000"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Entity-Relationship Diagram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엔티티 식별 · 속성 정의 · 관계 표현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0147" y="1874520"/>
            <a:ext cx="5570067" cy="20802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0147" y="1874520"/>
            <a:ext cx="45720" cy="20802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4739" y="1993392"/>
            <a:ext cx="524088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059669"/>
                </a:solidFill>
                <a:latin typeface="Consolas"/>
              </a:rPr>
              <a:t>관계 예시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4739" y="2249424"/>
            <a:ext cx="5240883" cy="1522476"/>
          </a:xfrm>
          <a:prstGeom prst="rect">
            <a:avLst/>
          </a:prstGeom>
          <a:noFill/>
        </p:spPr>
        <p:txBody>
          <a:bodyPr wrap="square" lIns="0" rIns="0" tIns="0" bIns="0" anchor="t">
            <a:normAutofit fontScale="85000"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[모델] ──1:N── [컴포넌트]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  │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  1:N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  ▼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[실험 시리즈] ──1:N── [시계열 데이터]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4137660"/>
            <a:ext cx="5570067" cy="20802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4137660"/>
            <a:ext cx="45720" cy="20802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" y="4256532"/>
            <a:ext cx="524088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7C3AED"/>
                </a:solidFill>
                <a:latin typeface="Consolas"/>
              </a:rPr>
              <a:t>엔티티 속성 예시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" y="4512564"/>
            <a:ext cx="5240883" cy="1522475"/>
          </a:xfrm>
          <a:prstGeom prst="rect">
            <a:avLst/>
          </a:prstGeom>
          <a:noFill/>
        </p:spPr>
        <p:txBody>
          <a:bodyPr wrap="square" lIns="0" rIns="0" tIns="0" bIns="0" anchor="t">
            <a:normAutofit fontScale="85000"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모델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· model_id (PK)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· model_name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· 인증 등급 · 양산 시작일 · 담당 부서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컴포넌트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· component_id (PK)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· type (압축기 / HX / 팬 / EEV)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· model_id (FK → 모델)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· 사양 JSON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0147" y="4137660"/>
            <a:ext cx="5570067" cy="20802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0147" y="4137660"/>
            <a:ext cx="45720" cy="20802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4739" y="4256532"/>
            <a:ext cx="524088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D97706"/>
                </a:solidFill>
                <a:latin typeface="Consolas"/>
              </a:rPr>
              <a:t>필요성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4739" y="4512564"/>
            <a:ext cx="5240883" cy="640080"/>
          </a:xfrm>
          <a:prstGeom prst="rect">
            <a:avLst/>
          </a:prstGeom>
          <a:noFill/>
        </p:spPr>
        <p:txBody>
          <a:bodyPr wrap="square" lIns="0" rIns="0" tIns="0" bIns="0" anchor="t">
            <a:normAutofit fontScale="85000"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검색 효율 결정 — "X 모델 압축기" 쿼리 속도가 여기서 정해짐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중복 방지 — 단일 진실 원천 (Single Source of Truth)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확장성 — 새 도메인 추가 위치 사전 정의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Consolas"/>
              </a:rP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411480"/>
            <a:ext cx="100584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563EB"/>
                </a:solidFill>
                <a:latin typeface="Consolas"/>
              </a:rPr>
              <a:t>E-1-3. ⓑ ① DB 설계 · 요소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14400"/>
            <a:ext cx="100584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475569"/>
                </a:solidFill>
                <a:latin typeface="Pretendard"/>
              </a:rPr>
              <a:t>스키마 + 인덱스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80160"/>
            <a:ext cx="1005840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4A3B8"/>
                </a:solidFill>
                <a:latin typeface="Pretendard"/>
              </a:rPr>
              <a:t>테이블 정의 · 검색 최적화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874520"/>
            <a:ext cx="5570067" cy="20802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874520"/>
            <a:ext cx="45720" cy="20802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993392"/>
            <a:ext cx="524088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563EB"/>
                </a:solidFill>
                <a:latin typeface="Consolas"/>
              </a:rPr>
              <a:t>한 줄 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2249424"/>
            <a:ext cx="524088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1A2E"/>
                </a:solidFill>
                <a:latin typeface="Pretendard"/>
              </a:rPr>
              <a:t>ERD → 실제 DB 테이블 + 인덱스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660904"/>
            <a:ext cx="5240883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 fontScale="85000"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테이블 · 컬럼 · 데이터 타입 · 외래키 · 인덱스 · 파티셔닝 정의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0147" y="1874520"/>
            <a:ext cx="5570067" cy="20802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0147" y="1874520"/>
            <a:ext cx="45720" cy="20802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4739" y="1993392"/>
            <a:ext cx="524088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059669"/>
                </a:solidFill>
                <a:latin typeface="Consolas"/>
              </a:rPr>
              <a:t>구성 요소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4739" y="2249424"/>
            <a:ext cx="5240883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• 테이블 정의 — 엔티티 → 테이블 · 속성 → 컬럼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• 데이터 타입 — VARCHAR · INTEGER · TIMESTAMP · JSONB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• 외래키 — DB 레벨 관계 강제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• 인덱스 — 검색 빈번 컬럼 (model_id · type · 날짜)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• 파티셔닝 — 시계열 = 월별 분할 (TimescaleDB)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4137660"/>
            <a:ext cx="5570067" cy="20802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4137660"/>
            <a:ext cx="45720" cy="20802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" y="4256532"/>
            <a:ext cx="524088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DC2626"/>
                </a:solidFill>
                <a:latin typeface="Consolas"/>
              </a:rPr>
              <a:t>인덱스 효과 — 100×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" y="4512564"/>
            <a:ext cx="5240883" cy="914400"/>
          </a:xfrm>
          <a:prstGeom prst="rect">
            <a:avLst/>
          </a:prstGeom>
          <a:noFill/>
        </p:spPr>
        <p:txBody>
          <a:bodyPr wrap="square" lIns="0" rIns="0" tIns="0" bIns="0" anchor="t">
            <a:normAutofit fontScale="85000"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인덱스 없음 — "X 모델 압축기" 검색 5초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인덱스 있음 — 같은 쿼리 50ms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→ 사용자 체감 큰 차이 · AI 응답 속도 직결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0147" y="4137660"/>
            <a:ext cx="5570067" cy="20802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0147" y="4137660"/>
            <a:ext cx="45720" cy="20802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4739" y="4256532"/>
            <a:ext cx="524088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D97706"/>
                </a:solidFill>
                <a:latin typeface="Consolas"/>
              </a:rPr>
              <a:t>DB 엔진 선정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4739" y="4512564"/>
            <a:ext cx="5240883" cy="1097280"/>
          </a:xfrm>
          <a:prstGeom prst="rect">
            <a:avLst/>
          </a:prstGeom>
          <a:noFill/>
        </p:spPr>
        <p:txBody>
          <a:bodyPr wrap="square" lIns="0" rIns="0" tIns="0" bIns="0" anchor="t">
            <a:normAutofit fontScale="85000"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PostgreSQL — 정형 데이터 · 관계형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TimescaleDB — 시계열 확장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Qdrant · Chroma — 벡터 검색 (RAG용)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보안 · 확장성 · 비용 종합 결정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Consolas"/>
              </a:rP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411480"/>
            <a:ext cx="100584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563EB"/>
                </a:solidFill>
                <a:latin typeface="Consolas"/>
              </a:rPr>
              <a:t>E-1-4. ⓑ ① DB 설계 · 요소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14400"/>
            <a:ext cx="100584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475569"/>
                </a:solidFill>
                <a:latin typeface="Pretendard"/>
              </a:rPr>
              <a:t>품질 기준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80160"/>
            <a:ext cx="1005840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4A3B8"/>
                </a:solidFill>
                <a:latin typeface="Pretendard"/>
              </a:rPr>
              <a:t>좋은 데이터 vs 나쁜 데이터 명시화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874520"/>
            <a:ext cx="5570067" cy="20802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874520"/>
            <a:ext cx="45720" cy="20802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993392"/>
            <a:ext cx="524088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563EB"/>
                </a:solidFill>
                <a:latin typeface="Consolas"/>
              </a:rPr>
              <a:t>한 줄 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2249424"/>
            <a:ext cx="524088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1A2E"/>
                </a:solidFill>
                <a:latin typeface="Pretendard"/>
              </a:rPr>
              <a:t>자동 검증 가능한 명시적 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660904"/>
            <a:ext cx="5240883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 fontScale="85000"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"좋은 데이터" 판단 기준 → 코드화 → ⑥ 검증·품질 트랙의 입력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0147" y="1874520"/>
            <a:ext cx="5570067" cy="20802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0147" y="1874520"/>
            <a:ext cx="45720" cy="20802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4739" y="1993392"/>
            <a:ext cx="524088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059669"/>
                </a:solidFill>
                <a:latin typeface="Consolas"/>
              </a:rPr>
              <a:t>4가지 차원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4739" y="2249424"/>
            <a:ext cx="5240883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• 완결성 (Completeness) — 필수 필드 채워짐? 미충족 시 reject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• 일관성 (Consistency) — 같은 의미 = 같은 형식? cc · ㎤ 통일 강제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• 정확성 (Accuracy) — 값이 사실과 일치? 음수 압력 자동 검출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• 최신성 (Timeliness) — 데이터 수명? 5년 이상 → "오래됨" 라벨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4137660"/>
            <a:ext cx="5570067" cy="20802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4137660"/>
            <a:ext cx="45720" cy="20802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" y="4256532"/>
            <a:ext cx="524088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7C3AED"/>
                </a:solidFill>
                <a:latin typeface="Consolas"/>
              </a:rPr>
              <a:t>구체 룰 예시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" y="4512564"/>
            <a:ext cx="5240883" cy="1522475"/>
          </a:xfrm>
          <a:prstGeom prst="rect">
            <a:avLst/>
          </a:prstGeom>
          <a:noFill/>
        </p:spPr>
        <p:txBody>
          <a:bodyPr wrap="square" lIns="0" rIns="0" tIns="0" bIns="0" anchor="t">
            <a:normAutofit fontScale="85000"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· 실험 온도 −40°C ~ 60°C 외 → reject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· 압축기 RPM 0 ~ 7000 외 → flag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· 시계열 샘플링 변동 30% 초과 → warning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· 시험 보고서 12개월 미갱신 → "오래됨"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0147" y="4137660"/>
            <a:ext cx="5570067" cy="20802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0147" y="4137660"/>
            <a:ext cx="45720" cy="20802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4739" y="4256532"/>
            <a:ext cx="524088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D97706"/>
                </a:solidFill>
                <a:latin typeface="Consolas"/>
              </a:rPr>
              <a:t>필요성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4739" y="4512564"/>
            <a:ext cx="5240883" cy="1097280"/>
          </a:xfrm>
          <a:prstGeom prst="rect">
            <a:avLst/>
          </a:prstGeom>
          <a:noFill/>
        </p:spPr>
        <p:txBody>
          <a:bodyPr wrap="square" lIns="0" rIns="0" tIns="0" bIns="0" anchor="t">
            <a:normAutofit fontScale="85000"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AI 답변 품질 = 데이터 품질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잘못된 데이터 학습 → AI 잘못된 답변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자동 검증 — 룰 코드화 시 신규 데이터 자동 체크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부서 간 데이터 거래 기준 — "이 형식으로 주세요" 근거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Consolas"/>
              </a:rP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411480"/>
            <a:ext cx="100584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563EB"/>
                </a:solidFill>
                <a:latin typeface="Consolas"/>
              </a:rPr>
              <a:t>E-1-5. ⓑ ① DB 설계 · 요소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14400"/>
            <a:ext cx="100584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475569"/>
                </a:solidFill>
                <a:latin typeface="Pretendard"/>
              </a:rPr>
              <a:t>마이그레이션 체계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80160"/>
            <a:ext cx="1005840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4A3B8"/>
                </a:solidFill>
                <a:latin typeface="Pretendard"/>
              </a:rPr>
              <a:t>스키마 변경 대응 방법론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874520"/>
            <a:ext cx="5570067" cy="20802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874520"/>
            <a:ext cx="45720" cy="20802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993392"/>
            <a:ext cx="524088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2563EB"/>
                </a:solidFill>
                <a:latin typeface="Consolas"/>
              </a:rPr>
              <a:t>한 줄 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2249424"/>
            <a:ext cx="524088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1A2E"/>
                </a:solidFill>
                <a:latin typeface="Pretendard"/>
              </a:rPr>
              <a:t>스키마 변경 시 데이터 보존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660904"/>
            <a:ext cx="5240883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 fontScale="85000"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한 번 설계로 끝 ≠ DB. 운영 중 5~10회 변경 필연 → 변경 절차 사전 표준화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0147" y="1874520"/>
            <a:ext cx="5570067" cy="20802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0147" y="1874520"/>
            <a:ext cx="45720" cy="20802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4739" y="1993392"/>
            <a:ext cx="524088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059669"/>
                </a:solidFill>
                <a:latin typeface="Consolas"/>
              </a:rPr>
              <a:t>전형 시나리오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4739" y="2249424"/>
            <a:ext cx="5240883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• "부품 카탈로그 친환경 등급 컬럼 추가"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• "부품 카탈로그 신규 컬럼 추가 (예: 인증등급)"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• "시계열 샘플링 간격 변경 — 기존 데이터?"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• "신 도메인 (소음 · 진동) 추가"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• "시험 규격 룰셋 구조 개편"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4137660"/>
            <a:ext cx="5570067" cy="20802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4137660"/>
            <a:ext cx="45720" cy="20802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" y="4256532"/>
            <a:ext cx="524088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7C3AED"/>
                </a:solidFill>
                <a:latin typeface="Consolas"/>
              </a:rPr>
              <a:t>도구 · 버전 관리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" y="4512564"/>
            <a:ext cx="5240883" cy="1522475"/>
          </a:xfrm>
          <a:prstGeom prst="rect">
            <a:avLst/>
          </a:prstGeom>
          <a:noFill/>
        </p:spPr>
        <p:txBody>
          <a:bodyPr wrap="square" lIns="0" rIns="0" tIns="0" bIns="0" anchor="t">
            <a:normAutofit fontScale="85000"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Alembic (Python) · Flyway (Java/SQL)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스키마 변경 = 코드로 버전 관리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예시 마이그레이션 파일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V1__initial_schema.sql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V2__add_certification_grade.sql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V3__add_acoustics_domain.sql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0147" y="4137660"/>
            <a:ext cx="5570067" cy="20802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0147" y="4137660"/>
            <a:ext cx="45720" cy="20802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4739" y="4256532"/>
            <a:ext cx="524088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D97706"/>
                </a:solidFill>
                <a:latin typeface="Consolas"/>
              </a:rPr>
              <a:t>필요성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4739" y="4512564"/>
            <a:ext cx="5240883" cy="640080"/>
          </a:xfrm>
          <a:prstGeom prst="rect">
            <a:avLst/>
          </a:prstGeom>
          <a:noFill/>
        </p:spPr>
        <p:txBody>
          <a:bodyPr wrap="square" lIns="0" rIns="0" tIns="0" bIns="0" anchor="t">
            <a:normAutofit fontScale="85000"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변경은 필연 — Phase 1 9개월 = 5~10회 변경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데이터 손실 방지 — 변경 시 재수집 비용 막대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75569"/>
                </a:solidFill>
                <a:latin typeface="Pretendard"/>
              </a:rPr>
              <a:t>롤백 가능 — 실수 시 직전 버전 복원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Consolas"/>
              </a:rPr>
              <a:t>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